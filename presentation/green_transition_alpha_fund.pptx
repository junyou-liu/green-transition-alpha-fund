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Hypothetical Back-Test (Indexed to 100)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 Transition Portfolio</c:v>
                </c:pt>
              </c:strCache>
            </c:strRef>
          </c:tx>
          <c:spPr>
            <a:solidFill>
              <a:srgbClr val="2C5F2D"/>
            </a:solidFill>
            <a:ln w="3175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126</c:v>
                </c:pt>
                <c:pt idx="2">
                  <c:v>141</c:v>
                </c:pt>
                <c:pt idx="3">
                  <c:v>178</c:v>
                </c:pt>
                <c:pt idx="4">
                  <c:v>162</c:v>
                </c:pt>
                <c:pt idx="5">
                  <c:v>198</c:v>
                </c:pt>
                <c:pt idx="6">
                  <c:v>232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ACWI</c:v>
                </c:pt>
              </c:strCache>
            </c:strRef>
          </c:tx>
          <c:spPr>
            <a:solidFill>
              <a:srgbClr val="64748B"/>
            </a:solidFill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122</c:v>
                </c:pt>
                <c:pt idx="2">
                  <c:v>131</c:v>
                </c:pt>
                <c:pt idx="3">
                  <c:v>153</c:v>
                </c:pt>
                <c:pt idx="4">
                  <c:v>137</c:v>
                </c:pt>
                <c:pt idx="5">
                  <c:v>159</c:v>
                </c:pt>
                <c:pt idx="6">
                  <c:v>180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101600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Transition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Fund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Returns from the Global Net-Zero Transition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3840480"/>
            <a:ext cx="18288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Equity Fund | Product Design Proposal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Type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1887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Long-Only Equity Fund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Universe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7830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equities (developed + emerging markets)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Focus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3774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transition leaders — companies reducing carbon intensity &amp; investing in clean tech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29718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200–500M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5661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MSCI ACWI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Clients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41605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investors (pension funds, endowments, family offices)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Hypothesis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1B3A2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leading the climate transition generate superior risk-adjusted returns through (1) regulatory tailwinds, (2) cost advantages from resource efficiency, and (3) growing demand for sustainable products.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651760" cy="23774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06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Alpha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33375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Agreement &amp; national net-zero targets create policy tailwinds for transition leaders and stranded-asset risks for laggards.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2468880"/>
            <a:ext cx="2651760" cy="23774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606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Gains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29000" y="33375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reducing energy &amp; resource intensity lower operating costs, improving margins and resilience to commodity shocks.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2468880"/>
            <a:ext cx="2651760" cy="23774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06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Shift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63640" y="33375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&amp; institutional preference for sustainable products drives revenue growth in clean-tech and circular-economy sectors.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ESG Integration &amp; Stock Selection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MSCI ACWI ~3,000 stocks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43000" y="1874520"/>
            <a:ext cx="6858000" cy="5943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Screen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8745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fossil-fuel extraction, tobacco, controversial weapons → ~2,400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606040"/>
            <a:ext cx="5486400" cy="5943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0" y="2606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Score Filter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MSCI ESG Rating ≥ A; Scope 1+2 carbon intensity below sector median → ~800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3337560"/>
            <a:ext cx="4114800" cy="5943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3337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Scoring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3337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model: CapEx alignment, emission reduction trajectory, green revenue % → ~150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4069080"/>
            <a:ext cx="2743200" cy="59436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4069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40690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analysis + conviction weighting → 40–60 holdings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MSCI ESG Ratings, CDP, TPI, company sustainability reports, Scope 1+2+3 emissions data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 Evidence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97280"/>
            <a:ext cx="3108960" cy="32004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Performance Metrics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Return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Fund: 13.2%  |  Bench: 8.8%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Fund: 0.91  |  Bench: 0.62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Fund: -12.4%  |  Bench: -15.8%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Intensity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Fund: 45 tCO₂/$M  |  Bench: 142 tCO₂/$M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Hypothetical back-test using MSCI ESG Leaders constituents screened for carbon reduction trajectory. Past performance is not indicative of future results.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143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Schneider Electric  ·  Industrials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leader in energy management &amp; automation. 73% of revenue classified as 'green' by EU Taxonomy. Consistent carbon intensity reduction of ~10% YoY.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105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5-year TSR of ~180% vs. sector avg. ~95%. Strong alignment with transition thesis.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73152" cy="1143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Vestas Wind Systems  ·  Clean Energy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wind turbine manufacturer globally. Direct beneficiary of renewable energy capacity expansion under national NDCs.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090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Revenue CAGR 12% (2019-2024). Volatile but strong long-term trajectory as order books grow.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57600"/>
            <a:ext cx="73152" cy="1143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TSMC  ·  Technology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 commitment to RE100 by 2050, with 2030 interim targets. Scope 1+2 intensity significantly below semiconductor peers.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3708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Outperformed SOX index by ~40% over 5 years. ESG leadership as competitive moat.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Lifecycle: Integration to Reporting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10972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Sourcing &amp; Screening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exclusion + ESG minimum threshold (MSCI ≥ A). Carbon intensity &amp; transition alignment scoring.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114800" cy="10972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73152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Fundamental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valuation incorporating climate risk scenarios (NGFS). Engagement assessment with management on transition plans.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114800" cy="10972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Portfolio Construction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40-60 holdings, sector-aware weighting. Active share &gt; 60% vs MSCI ACWI. Tracking error 3-6%.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114800" cy="10972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73152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Ongoing Monitoring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463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ESG data refresh. Red-flag system for controversies (MSCI ESG Controversies, RepRisk). Annual re-screening.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4114800" cy="10972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77440"/>
            <a:ext cx="73152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Engagement &amp; Voting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7432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ownership: proxy voting aligned with climate goals. Direct engagement on emission targets with portfolio companies.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114800" cy="10972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57600"/>
            <a:ext cx="73152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Reporting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023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factsheet with SFDR Art. 8/9 disclosures. Annual impact report: portfolio carbon footprint, alignment with Paris targets, TCFD.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Clients &amp; Distribution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6187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97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Pension Funds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474720" y="10972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Net-zero portfolio commitments (NZAOA members). Need SFDR Art. 8/9 compliant products.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7627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Endowments &amp; Foundations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474720" y="20116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alignment with climate goals. Long investment horizon matches transition theme.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9067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Offices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74720" y="2926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demand for impact + alpha products. Flexible mandates allow concentrated conviction bets.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0507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840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Wealth Funds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474720" y="38404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away from fossil-fuel revenues. Alignment with national climate pledges.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Structure: Management fee 0.65% | Performance fee 10% over MSCI ACWI + 1% hurdle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 &amp; Cons (Limitations)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alpha from multi-decade transition megatrend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downside risk — avoids stranded-asset exposure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560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tailwind: EU Green Deal, IRA, carbon pricing expansion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5468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ESG data infrastructure enables systematic screening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03320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LP demand for Article 8/9 products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8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5087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1208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data inconsistency across rating providers (divergent scores)</a:t>
            </a:r>
            <a:endParaRPr lang="en-US" sz="11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057400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12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Greenwashing risk — companies may overstate transition credentials</a:t>
            </a:r>
            <a:endParaRPr lang="en-US" sz="11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606040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212080" y="2560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concentration risk (overweight industrials, tech; underweight energy)</a:t>
            </a:r>
            <a:endParaRPr lang="en-US" sz="11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154680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21208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error vs. broad benchmarks may deter conservative allocators</a:t>
            </a:r>
            <a:endParaRPr lang="en-US" sz="11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703320"/>
            <a:ext cx="228600" cy="22860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212080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timeline uncertainty — policy reversals possible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5486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Green Transition Alpha Fund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capital with the net-zero transition to deliver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risk-adjusted returns and measurable impact.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657600" y="3657600"/>
            <a:ext cx="18288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|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Transition Alpha Fund</dc:title>
  <dc:subject>PptxGenJS Presentation</dc:subject>
  <dc:creator>ESG Investment Team</dc:creator>
  <cp:lastModifiedBy>ESG Investment Team</cp:lastModifiedBy>
  <cp:revision>1</cp:revision>
  <dcterms:created xsi:type="dcterms:W3CDTF">2026-04-08T11:49:02Z</dcterms:created>
  <dcterms:modified xsi:type="dcterms:W3CDTF">2026-04-08T11:49:02Z</dcterms:modified>
</cp:coreProperties>
</file>